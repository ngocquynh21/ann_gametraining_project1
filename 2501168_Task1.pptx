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59" r:id="rId7"/>
    <p:sldId id="270" r:id="rId8"/>
    <p:sldId id="260" r:id="rId9"/>
    <p:sldId id="271" r:id="rId10"/>
  </p:sldIdLst>
  <p:sldSz cx="18288000" cy="10287000"/>
  <p:notesSz cx="6858000" cy="9144000"/>
  <p:embeddedFontLst>
    <p:embeddedFont>
      <p:font typeface="Telegraf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416465" y="879937"/>
            <a:ext cx="7453924" cy="9407063"/>
          </a:xfrm>
          <a:custGeom>
            <a:avLst/>
            <a:gdLst/>
            <a:ahLst/>
            <a:cxnLst/>
            <a:rect l="l" t="t" r="r" b="b"/>
            <a:pathLst>
              <a:path w="7453924" h="9407063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18" t="-3109" r="-1373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3212033"/>
            <a:ext cx="759757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GB" sz="6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Feed-Forward Backpropagation MLP Neural Network </a:t>
            </a:r>
            <a:endParaRPr lang="en-US" sz="60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09321" y="1508729"/>
            <a:ext cx="2153079" cy="601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4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Neural Network and Deep Learning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546829"/>
            <a:ext cx="607033" cy="486312"/>
          </a:xfrm>
          <a:custGeom>
            <a:avLst/>
            <a:gdLst/>
            <a:ahLst/>
            <a:cxnLst/>
            <a:rect l="l" t="t" r="r" b="b"/>
            <a:pathLst>
              <a:path w="607033" h="486312">
                <a:moveTo>
                  <a:pt x="0" y="0"/>
                </a:moveTo>
                <a:lnTo>
                  <a:pt x="607033" y="0"/>
                </a:lnTo>
                <a:lnTo>
                  <a:pt x="607033" y="486312"/>
                </a:lnTo>
                <a:lnTo>
                  <a:pt x="0" y="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028700" y="6783015"/>
            <a:ext cx="8053372" cy="11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7"/>
              </a:lnSpc>
            </a:pP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Full name: Quynh Pham </a:t>
            </a:r>
            <a:r>
              <a:rPr lang="en-US" sz="2219" spc="93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</a:t>
            </a: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Ngoc</a:t>
            </a:r>
          </a:p>
          <a:p>
            <a:pPr marL="0" lvl="0" indent="0" algn="l">
              <a:lnSpc>
                <a:spcPts val="3107"/>
              </a:lnSpc>
            </a:pP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Registration Number: 2501168</a:t>
            </a:r>
          </a:p>
          <a:p>
            <a:pPr marL="0" lvl="0" indent="0" algn="l">
              <a:lnSpc>
                <a:spcPts val="3107"/>
              </a:lnSpc>
            </a:pPr>
            <a:endParaRPr lang="en-US" sz="2219" u="none" strike="noStrike" spc="9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3642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484655" y="1183644"/>
            <a:ext cx="6921416" cy="986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 Detailing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84655" y="2681144"/>
            <a:ext cx="569605" cy="4850344"/>
            <a:chOff x="0" y="-450649"/>
            <a:chExt cx="150019" cy="1277457"/>
          </a:xfrm>
        </p:grpSpPr>
        <p:sp>
          <p:nvSpPr>
            <p:cNvPr id="7" name="Freeform 7"/>
            <p:cNvSpPr/>
            <p:nvPr/>
          </p:nvSpPr>
          <p:spPr>
            <a:xfrm>
              <a:off x="0" y="-450649"/>
              <a:ext cx="150019" cy="1172849"/>
            </a:xfrm>
            <a:custGeom>
              <a:avLst/>
              <a:gdLst/>
              <a:ahLst/>
              <a:cxnLst/>
              <a:rect l="l" t="t" r="r" b="b"/>
              <a:pathLst>
                <a:path w="150019" h="1172849">
                  <a:moveTo>
                    <a:pt x="75010" y="0"/>
                  </a:moveTo>
                  <a:lnTo>
                    <a:pt x="75010" y="0"/>
                  </a:lnTo>
                  <a:cubicBezTo>
                    <a:pt x="94903" y="0"/>
                    <a:pt x="113982" y="7903"/>
                    <a:pt x="128049" y="21970"/>
                  </a:cubicBezTo>
                  <a:cubicBezTo>
                    <a:pt x="142117" y="36037"/>
                    <a:pt x="150019" y="55116"/>
                    <a:pt x="150019" y="75010"/>
                  </a:cubicBezTo>
                  <a:lnTo>
                    <a:pt x="150019" y="1097839"/>
                  </a:lnTo>
                  <a:cubicBezTo>
                    <a:pt x="150019" y="1139266"/>
                    <a:pt x="116436" y="1172849"/>
                    <a:pt x="75010" y="1172849"/>
                  </a:cubicBezTo>
                  <a:lnTo>
                    <a:pt x="75010" y="1172849"/>
                  </a:lnTo>
                  <a:cubicBezTo>
                    <a:pt x="33583" y="1172849"/>
                    <a:pt x="0" y="1139266"/>
                    <a:pt x="0" y="1097839"/>
                  </a:cubicBezTo>
                  <a:lnTo>
                    <a:pt x="0" y="75010"/>
                  </a:lnTo>
                  <a:cubicBezTo>
                    <a:pt x="0" y="33583"/>
                    <a:pt x="33583" y="0"/>
                    <a:pt x="750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22241"/>
              <a:ext cx="150019" cy="12490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r>
                <a:rPr lang="en-US" sz="2000" u="none" strike="noStrike" spc="32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</a:t>
              </a: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r>
                <a:rPr lang="en-US" sz="2000" u="none" strike="noStrike" spc="32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2</a:t>
              </a: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85534" y="2789006"/>
            <a:ext cx="5761792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Partition of data: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Training: 70%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Validation: 15%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Testing: 15%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64649-4932-4419-1D67-0EB18327672E}"/>
              </a:ext>
            </a:extLst>
          </p:cNvPr>
          <p:cNvSpPr txBox="1"/>
          <p:nvPr/>
        </p:nvSpPr>
        <p:spPr>
          <a:xfrm>
            <a:off x="2285534" y="4468921"/>
            <a:ext cx="1592626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Processing of data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Data Source: Game collection data: 101384 records</a:t>
            </a:r>
            <a:endParaRPr lang="en-US" sz="2500" u="none" strike="noStrike" spc="32" dirty="0">
              <a:solidFill>
                <a:srgbClr val="FFFFFF"/>
              </a:solidFill>
              <a:latin typeface="+mj-lt"/>
              <a:ea typeface="Telegraf"/>
              <a:cs typeface="Telegraf"/>
              <a:sym typeface="Telegraf"/>
            </a:endParaRPr>
          </a:p>
          <a:p>
            <a:pPr marL="457200" indent="-4572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Read data: Iterate through each line of the raw CSV data file. For every record, read and validate the entry: if the record is valid (containing exactly four numerical float values, comprising 2 Inputs and 2 Outputs)</a:t>
            </a:r>
          </a:p>
          <a:p>
            <a:pPr marL="457200" indent="-4572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Feature Selection: Input- Index 0, 1 | Output- Index 2, 3</a:t>
            </a:r>
          </a:p>
          <a:p>
            <a:pPr marL="457200" indent="-4572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Normalizing data: Scaled both Input and Output data to the range [0,1] with the formular: (Xi-</a:t>
            </a:r>
            <a:r>
              <a:rPr lang="en-US" sz="2500" spc="32" dirty="0" err="1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Xmin</a:t>
            </a: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) / (</a:t>
            </a:r>
            <a:r>
              <a:rPr lang="en-US" sz="2500" spc="32" dirty="0" err="1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Xmax-Xmin</a:t>
            </a: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) </a:t>
            </a:r>
          </a:p>
          <a:p>
            <a:pPr marL="457200" indent="-4572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Using sigmoid function as activate function for all the layers, consistent with the [0, 1] normalized output range.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427749" y="2514328"/>
            <a:ext cx="16250651" cy="7290725"/>
            <a:chOff x="-208456" y="-76200"/>
            <a:chExt cx="3658853" cy="1482472"/>
          </a:xfrm>
        </p:grpSpPr>
        <p:sp>
          <p:nvSpPr>
            <p:cNvPr id="4" name="Freeform 4"/>
            <p:cNvSpPr/>
            <p:nvPr/>
          </p:nvSpPr>
          <p:spPr>
            <a:xfrm>
              <a:off x="-208456" y="0"/>
              <a:ext cx="3658853" cy="1406272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pPr marL="342900" indent="-342900">
                <a:buAutoNum type="arabicPeriod"/>
              </a:pPr>
              <a:r>
                <a:rPr lang="en-GB" sz="2500" b="1" dirty="0">
                  <a:solidFill>
                    <a:schemeClr val="bg1"/>
                  </a:solidFill>
                </a:rPr>
                <a:t>Network Architecture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dirty="0">
                  <a:solidFill>
                    <a:schemeClr val="bg1"/>
                  </a:solidFill>
                </a:rPr>
                <a:t>Input Layer: 2 neurons ~ 2 features: X position to target  and Y position to target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dirty="0">
                  <a:solidFill>
                    <a:schemeClr val="bg1"/>
                  </a:solidFill>
                </a:rPr>
                <a:t>Hidden Layer: 8 neurons: Large enough to capture the necessary non-linear mapping (simultaneous thrust and turning decisions) yet small enough to maintain low computational time per epoch.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dirty="0">
                  <a:solidFill>
                    <a:schemeClr val="bg1"/>
                  </a:solidFill>
                </a:rPr>
                <a:t>Output Layer: 2 neuron: : Lander thruster, Lander turning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dirty="0">
                <a:solidFill>
                  <a:schemeClr val="bg1"/>
                </a:solidFill>
              </a:endParaRPr>
            </a:p>
            <a:p>
              <a:endParaRPr lang="en-GB" sz="2500" dirty="0">
                <a:solidFill>
                  <a:schemeClr val="bg1"/>
                </a:solidFill>
              </a:endParaRPr>
            </a:p>
            <a:p>
              <a:endParaRPr lang="en-GB" sz="25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29843" y="481947"/>
            <a:ext cx="9786261" cy="96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Designing Choice</a:t>
            </a: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45B0527B-70BF-FC98-849E-57864CA1674D}"/>
              </a:ext>
            </a:extLst>
          </p:cNvPr>
          <p:cNvSpPr/>
          <p:nvPr/>
        </p:nvSpPr>
        <p:spPr>
          <a:xfrm>
            <a:off x="1427748" y="1912117"/>
            <a:ext cx="846461" cy="846461"/>
          </a:xfrm>
          <a:custGeom>
            <a:avLst/>
            <a:gdLst/>
            <a:ahLst/>
            <a:cxnLst/>
            <a:rect l="l" t="t" r="r" b="b"/>
            <a:pathLst>
              <a:path w="846461" h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8A96838-3B16-CA41-4055-D2CDB42DB865}"/>
              </a:ext>
            </a:extLst>
          </p:cNvPr>
          <p:cNvSpPr txBox="1"/>
          <p:nvPr/>
        </p:nvSpPr>
        <p:spPr>
          <a:xfrm>
            <a:off x="1143000" y="1707467"/>
            <a:ext cx="5867400" cy="861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3000" b="1" dirty="0">
                <a:solidFill>
                  <a:schemeClr val="bg1"/>
                </a:solidFill>
              </a:rPr>
              <a:t>Architecture Choice </a:t>
            </a:r>
            <a:endParaRPr lang="en-US" sz="3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00876B-0B8D-E0A1-E11A-3A47403D3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365" y="4848011"/>
            <a:ext cx="6404235" cy="48674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D6E8-4315-46A8-332D-27ABF8AA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1D4003-B7FD-F13A-AAAC-C109C0F1A338}"/>
              </a:ext>
            </a:extLst>
          </p:cNvPr>
          <p:cNvSpPr/>
          <p:nvPr/>
        </p:nvSpPr>
        <p:spPr>
          <a:xfrm>
            <a:off x="401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E63F890-BF3A-12C9-3B54-44905728CA5C}"/>
              </a:ext>
            </a:extLst>
          </p:cNvPr>
          <p:cNvGrpSpPr/>
          <p:nvPr/>
        </p:nvGrpSpPr>
        <p:grpSpPr>
          <a:xfrm>
            <a:off x="459454" y="1769276"/>
            <a:ext cx="17599946" cy="8035777"/>
            <a:chOff x="-311161" y="-76200"/>
            <a:chExt cx="3761558" cy="213469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68826A-FF5D-4491-C2DD-028451F25198}"/>
                </a:ext>
              </a:extLst>
            </p:cNvPr>
            <p:cNvSpPr/>
            <p:nvPr/>
          </p:nvSpPr>
          <p:spPr>
            <a:xfrm>
              <a:off x="-311161" y="255229"/>
              <a:ext cx="3761558" cy="1803263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r>
                <a:rPr lang="en-GB" sz="2500" b="1" dirty="0">
                  <a:solidFill>
                    <a:schemeClr val="bg1"/>
                  </a:solidFill>
                </a:rPr>
                <a:t>2. Activate Function: Sigmoid for all layers </a:t>
              </a:r>
            </a:p>
            <a:p>
              <a:r>
                <a:rPr lang="en-GB" sz="2500" dirty="0">
                  <a:solidFill>
                    <a:schemeClr val="bg1"/>
                  </a:solidFill>
                </a:rPr>
                <a:t>Reason: the output is normalized to [0,1] so the Sigmoid function constrains the prediction within that bounds.</a:t>
              </a:r>
            </a:p>
            <a:p>
              <a:endParaRPr lang="en-GB" sz="2500" dirty="0">
                <a:solidFill>
                  <a:schemeClr val="bg1"/>
                </a:solidFill>
              </a:endParaRPr>
            </a:p>
            <a:p>
              <a:r>
                <a:rPr lang="en-GB" sz="2500" b="1" dirty="0">
                  <a:solidFill>
                    <a:schemeClr val="bg1"/>
                  </a:solidFill>
                </a:rPr>
                <a:t>3. </a:t>
              </a:r>
              <a:r>
                <a:rPr lang="en-US" sz="2500" b="1" dirty="0">
                  <a:solidFill>
                    <a:schemeClr val="bg1"/>
                  </a:solidFill>
                </a:rPr>
                <a:t>Foundations for Computing Fine-Tuned Backpropagation (based on the Lecture of NN (lecture 4-5))</a:t>
              </a:r>
            </a:p>
            <a:p>
              <a:endParaRPr lang="en-US" sz="2500" b="1" dirty="0">
                <a:solidFill>
                  <a:schemeClr val="bg1"/>
                </a:solidFill>
              </a:endParaRPr>
            </a:p>
            <a:p>
              <a:r>
                <a:rPr lang="en-US" sz="2300" dirty="0">
                  <a:solidFill>
                    <a:schemeClr val="bg1"/>
                  </a:solidFill>
                </a:rPr>
                <a:t>This table was compiled from the professor’s lecture, and I rewrote the formulas to make them easier to remember. In this task, the model uses the two fine-tuning formulas highlighted </a:t>
              </a:r>
              <a:r>
                <a:rPr lang="en-US" sz="2300" b="1" dirty="0">
                  <a:solidFill>
                    <a:srgbClr val="FFFF00"/>
                  </a:solidFill>
                </a:rPr>
                <a:t>in yellow</a:t>
              </a:r>
              <a:r>
                <a:rPr lang="en-US" sz="2300" dirty="0">
                  <a:solidFill>
                    <a:schemeClr val="bg1"/>
                  </a:solidFill>
                </a:rPr>
                <a:t>, meaning that the sigmoid activation function is applied to both layers.</a:t>
              </a:r>
              <a:endParaRPr lang="en-GB" sz="2300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504568-B530-4940-3E71-AB3081FF3A46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9BAEB99-660E-ED27-C3E1-780550B1C2B3}"/>
              </a:ext>
            </a:extLst>
          </p:cNvPr>
          <p:cNvSpPr txBox="1"/>
          <p:nvPr/>
        </p:nvSpPr>
        <p:spPr>
          <a:xfrm>
            <a:off x="3829843" y="481947"/>
            <a:ext cx="9786261" cy="96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Designing Choice</a:t>
            </a: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F62AD733-D2CD-B480-0A47-7B2CDCF1E66E}"/>
              </a:ext>
            </a:extLst>
          </p:cNvPr>
          <p:cNvSpPr/>
          <p:nvPr/>
        </p:nvSpPr>
        <p:spPr>
          <a:xfrm>
            <a:off x="457200" y="1912117"/>
            <a:ext cx="846461" cy="846461"/>
          </a:xfrm>
          <a:custGeom>
            <a:avLst/>
            <a:gdLst/>
            <a:ahLst/>
            <a:cxnLst/>
            <a:rect l="l" t="t" r="r" b="b"/>
            <a:pathLst>
              <a:path w="846461" h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9C5FE8F-9AC3-2107-B35F-7BDA2D617521}"/>
              </a:ext>
            </a:extLst>
          </p:cNvPr>
          <p:cNvSpPr txBox="1"/>
          <p:nvPr/>
        </p:nvSpPr>
        <p:spPr>
          <a:xfrm>
            <a:off x="76200" y="1691310"/>
            <a:ext cx="5867400" cy="861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3000" b="1" dirty="0">
                <a:solidFill>
                  <a:schemeClr val="bg1"/>
                </a:solidFill>
              </a:rPr>
              <a:t>Architecture Choice</a:t>
            </a:r>
            <a:endParaRPr lang="en-US" sz="3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E63E45-4DD6-5466-6A2D-86D0ED235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77" y="6121449"/>
            <a:ext cx="16125735" cy="310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4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19B1-6F50-1619-DADA-D74B5EEA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A88E54-2F91-9D25-CC4D-2FDFBCB88D9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F81C5CC-09AD-C267-ADB4-D5C83B9716BE}"/>
              </a:ext>
            </a:extLst>
          </p:cNvPr>
          <p:cNvGrpSpPr/>
          <p:nvPr/>
        </p:nvGrpSpPr>
        <p:grpSpPr>
          <a:xfrm>
            <a:off x="1253170" y="2019300"/>
            <a:ext cx="16425230" cy="7823733"/>
            <a:chOff x="-152987" y="-76200"/>
            <a:chExt cx="3569703" cy="14916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DFFA2F-91AB-C1D8-522A-2D27D72580A2}"/>
                </a:ext>
              </a:extLst>
            </p:cNvPr>
            <p:cNvSpPr/>
            <p:nvPr/>
          </p:nvSpPr>
          <p:spPr>
            <a:xfrm>
              <a:off x="-152987" y="9196"/>
              <a:ext cx="3569703" cy="1406272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8CD766-9070-EAB4-CFC6-017A990DDBCE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FE74857-2BC6-7BA9-A817-2338EFC067C6}"/>
              </a:ext>
            </a:extLst>
          </p:cNvPr>
          <p:cNvSpPr txBox="1"/>
          <p:nvPr/>
        </p:nvSpPr>
        <p:spPr>
          <a:xfrm>
            <a:off x="3829843" y="481947"/>
            <a:ext cx="9786261" cy="96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Designing Choice</a:t>
            </a: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BF5DE37B-612E-C74C-3CF7-F1A2DDC3348C}"/>
              </a:ext>
            </a:extLst>
          </p:cNvPr>
          <p:cNvSpPr/>
          <p:nvPr/>
        </p:nvSpPr>
        <p:spPr>
          <a:xfrm>
            <a:off x="1253170" y="1638300"/>
            <a:ext cx="846461" cy="846461"/>
          </a:xfrm>
          <a:custGeom>
            <a:avLst/>
            <a:gdLst/>
            <a:ahLst/>
            <a:cxnLst/>
            <a:rect l="l" t="t" r="r" b="b"/>
            <a:pathLst>
              <a:path w="846461" h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52BAC9E-5FA4-3E46-9513-245347D5BB71}"/>
              </a:ext>
            </a:extLst>
          </p:cNvPr>
          <p:cNvSpPr txBox="1"/>
          <p:nvPr/>
        </p:nvSpPr>
        <p:spPr>
          <a:xfrm>
            <a:off x="990600" y="1436617"/>
            <a:ext cx="5867400" cy="861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3000" b="1" dirty="0">
                <a:solidFill>
                  <a:schemeClr val="bg1"/>
                </a:solidFill>
              </a:rPr>
              <a:t> The Size comparisons</a:t>
            </a:r>
            <a:endParaRPr lang="en-US" sz="3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A7330EA-C00D-6A0F-2F1E-DCD117A7D381}"/>
              </a:ext>
            </a:extLst>
          </p:cNvPr>
          <p:cNvSpPr txBox="1"/>
          <p:nvPr/>
        </p:nvSpPr>
        <p:spPr>
          <a:xfrm>
            <a:off x="9825715" y="5448300"/>
            <a:ext cx="4647837" cy="827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2000" b="1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4 neurons: </a:t>
            </a:r>
            <a:r>
              <a:rPr lang="en-GB" sz="2000" b="1" dirty="0">
                <a:solidFill>
                  <a:schemeClr val="bg1"/>
                </a:solidFill>
              </a:rPr>
              <a:t>Test RMSE: 0.1636</a:t>
            </a:r>
            <a:endParaRPr lang="en-US" sz="2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489A001-7D2B-325F-974B-00252E42611A}"/>
              </a:ext>
            </a:extLst>
          </p:cNvPr>
          <p:cNvSpPr txBox="1"/>
          <p:nvPr/>
        </p:nvSpPr>
        <p:spPr>
          <a:xfrm>
            <a:off x="9817753" y="3126888"/>
            <a:ext cx="4647838" cy="827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2000" b="1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8 neurons</a:t>
            </a:r>
            <a:r>
              <a:rPr lang="en-US" sz="2000" b="1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  <a:r>
              <a:rPr lang="en-GB" sz="2000" b="1" dirty="0">
                <a:solidFill>
                  <a:schemeClr val="bg1"/>
                </a:solidFill>
              </a:rPr>
              <a:t> Test RMSE: 0.1628</a:t>
            </a:r>
            <a:endParaRPr lang="en-US" sz="2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556189-EF10-180B-6370-FF2422CD9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506" y="2540984"/>
            <a:ext cx="7630445" cy="22750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54F2D2-ACDB-9EA9-CFA9-4ED6E755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506" y="4914900"/>
            <a:ext cx="7630445" cy="2373916"/>
          </a:xfrm>
          <a:prstGeom prst="rect">
            <a:avLst/>
          </a:prstGeom>
        </p:spPr>
      </p:pic>
      <p:sp>
        <p:nvSpPr>
          <p:cNvPr id="21" name="TextBox 6">
            <a:extLst>
              <a:ext uri="{FF2B5EF4-FFF2-40B4-BE49-F238E27FC236}">
                <a16:creationId xmlns:a16="http://schemas.microsoft.com/office/drawing/2014/main" id="{E4299B9E-17B8-E393-CD0F-A3C751E1CD80}"/>
              </a:ext>
            </a:extLst>
          </p:cNvPr>
          <p:cNvSpPr txBox="1"/>
          <p:nvPr/>
        </p:nvSpPr>
        <p:spPr>
          <a:xfrm>
            <a:off x="9906000" y="8202166"/>
            <a:ext cx="4647837" cy="827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GB" sz="2000" b="1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12 neurons: </a:t>
            </a:r>
            <a:r>
              <a:rPr lang="en-GB" sz="2000" b="1" dirty="0">
                <a:solidFill>
                  <a:schemeClr val="bg1"/>
                </a:solidFill>
              </a:rPr>
              <a:t>Test RMSE: 0.1622</a:t>
            </a:r>
            <a:endParaRPr lang="en-US" sz="2000" b="1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201414E-855C-BD7A-B76E-20B28C6B11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368" y="7429500"/>
            <a:ext cx="7626584" cy="224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114800" y="266700"/>
            <a:ext cx="9536271" cy="91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000" b="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Hyper Parameter Choice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04801" y="1704667"/>
            <a:ext cx="10634256" cy="6639233"/>
            <a:chOff x="-12144" y="-76200"/>
            <a:chExt cx="1088371" cy="596568"/>
          </a:xfrm>
        </p:grpSpPr>
        <p:sp>
          <p:nvSpPr>
            <p:cNvPr id="17" name="Freeform 17"/>
            <p:cNvSpPr/>
            <p:nvPr/>
          </p:nvSpPr>
          <p:spPr>
            <a:xfrm>
              <a:off x="-12144" y="0"/>
              <a:ext cx="1076227" cy="520368"/>
            </a:xfrm>
            <a:custGeom>
              <a:avLst/>
              <a:gdLst/>
              <a:ahLst/>
              <a:cxnLst/>
              <a:rect l="l" t="t" r="r" b="b"/>
              <a:pathLst>
                <a:path w="1076227" h="520368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r>
                <a:rPr lang="en-GB" sz="3000" b="1" dirty="0">
                  <a:solidFill>
                    <a:schemeClr val="bg1"/>
                  </a:solidFill>
                </a:rPr>
                <a:t>Hyper Parameter Choice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45854" y="5126876"/>
            <a:ext cx="1035074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How to choose them: Using </a:t>
            </a:r>
            <a:r>
              <a:rPr lang="en-US" sz="2000" spc="73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matlab</a:t>
            </a: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to choose hyper parameters in order to:</a:t>
            </a:r>
          </a:p>
          <a:p>
            <a:pPr lvl="0" algn="just">
              <a:lnSpc>
                <a:spcPts val="2445"/>
              </a:lnSpc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	Achieve a low MSE</a:t>
            </a:r>
          </a:p>
          <a:p>
            <a:pPr lvl="0" algn="just">
              <a:lnSpc>
                <a:spcPts val="2445"/>
              </a:lnSpc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	The training, validation, and testing curves converge to avoid overfitting</a:t>
            </a:r>
            <a:endParaRPr lang="en-US" sz="2000" u="none" strike="noStrike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F44A62-3DD4-77C3-3462-88146C044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 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$\mu=0.9$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helps the model escape local minima and accelerates convergence in consistent directions.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5590D-EFD5-B4AE-6950-7EAEF914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627" y="2552700"/>
            <a:ext cx="6932686" cy="5867399"/>
          </a:xfrm>
          <a:prstGeom prst="rect">
            <a:avLst/>
          </a:prstGeom>
        </p:spPr>
      </p:pic>
      <p:sp>
        <p:nvSpPr>
          <p:cNvPr id="9" name="TextBox 21">
            <a:extLst>
              <a:ext uri="{FF2B5EF4-FFF2-40B4-BE49-F238E27FC236}">
                <a16:creationId xmlns:a16="http://schemas.microsoft.com/office/drawing/2014/main" id="{ED9512DB-EA79-33ED-98F6-604D4DDC2F4D}"/>
              </a:ext>
            </a:extLst>
          </p:cNvPr>
          <p:cNvSpPr txBox="1"/>
          <p:nvPr/>
        </p:nvSpPr>
        <p:spPr>
          <a:xfrm>
            <a:off x="533400" y="3700434"/>
            <a:ext cx="5957517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Learning Rate (Eta): 0.01</a:t>
            </a:r>
          </a:p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u="none" strike="noStrike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Momentum </a:t>
            </a: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Rate: </a:t>
            </a:r>
            <a:r>
              <a:rPr lang="en-GB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Momentum =0.01</a:t>
            </a:r>
            <a:endParaRPr lang="en-US" sz="2000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Epoch: 100</a:t>
            </a:r>
            <a:endParaRPr lang="en-US" sz="2000" u="none" strike="noStrike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6187-FAE1-3C37-39CD-3EDB6576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0C5D30-F777-101B-B9F3-5F317526C3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7862F93-4516-961C-A1D4-F300600E5415}"/>
              </a:ext>
            </a:extLst>
          </p:cNvPr>
          <p:cNvSpPr txBox="1"/>
          <p:nvPr/>
        </p:nvSpPr>
        <p:spPr>
          <a:xfrm>
            <a:off x="4114800" y="266700"/>
            <a:ext cx="9536271" cy="91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000" b="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Hyper Parameter Choice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F4D1425-75B9-72A9-6FDC-3D4C23267867}"/>
              </a:ext>
            </a:extLst>
          </p:cNvPr>
          <p:cNvGrpSpPr/>
          <p:nvPr/>
        </p:nvGrpSpPr>
        <p:grpSpPr>
          <a:xfrm>
            <a:off x="457200" y="495300"/>
            <a:ext cx="7620000" cy="6324600"/>
            <a:chOff x="0" y="-76200"/>
            <a:chExt cx="1076227" cy="596568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04DFA10-FCE1-C35D-4511-0F7A9B6D23F6}"/>
                </a:ext>
              </a:extLst>
            </p:cNvPr>
            <p:cNvSpPr/>
            <p:nvPr/>
          </p:nvSpPr>
          <p:spPr>
            <a:xfrm>
              <a:off x="0" y="0"/>
              <a:ext cx="1076227" cy="520368"/>
            </a:xfrm>
            <a:custGeom>
              <a:avLst/>
              <a:gdLst/>
              <a:ahLst/>
              <a:cxnLst/>
              <a:rect l="l" t="t" r="r" b="b"/>
              <a:pathLst>
                <a:path w="1076227" h="520368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r>
                <a:rPr lang="en-GB" sz="3000" dirty="0">
                  <a:solidFill>
                    <a:schemeClr val="bg1"/>
                  </a:solidFill>
                </a:rPr>
                <a:t>How they influent model: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7A55E28-32A2-B57E-E72E-9BC6E6269CC3}"/>
                </a:ext>
              </a:extLst>
            </p:cNvPr>
            <p:cNvSpPr txBox="1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1526BC2-9256-49CD-E93E-65F3A334C2B5}"/>
              </a:ext>
            </a:extLst>
          </p:cNvPr>
          <p:cNvSpPr txBox="1"/>
          <p:nvPr/>
        </p:nvSpPr>
        <p:spPr>
          <a:xfrm>
            <a:off x="545854" y="2400300"/>
            <a:ext cx="7302746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Learning Rate (Eta): 0.01</a:t>
            </a:r>
          </a:p>
          <a:p>
            <a:pPr lvl="0" algn="just">
              <a:lnSpc>
                <a:spcPts val="2445"/>
              </a:lnSpc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find the minimum of the loss function, the learning rate acts like the step size taken when descending a slope to locate the lowest point. If the steps are too large, the model may overshoot the minimum and the loss will increase; whereas if the steps are too small, the learning process will be extremely slow. </a:t>
            </a:r>
          </a:p>
          <a:p>
            <a:pPr lvl="0" algn="just">
              <a:lnSpc>
                <a:spcPts val="2445"/>
              </a:lnSpc>
            </a:pPr>
            <a:endParaRPr lang="en-US" sz="2000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u="none" strike="noStrike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Momentum </a:t>
            </a: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Rate: </a:t>
            </a:r>
            <a:r>
              <a:rPr lang="en-GB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Momentum =0.01</a:t>
            </a:r>
          </a:p>
          <a:p>
            <a:pPr lvl="0" algn="just">
              <a:lnSpc>
                <a:spcPts val="2445"/>
              </a:lnSpc>
            </a:pPr>
            <a:r>
              <a:rPr lang="en-GB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 get rid of local minimum</a:t>
            </a:r>
          </a:p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endParaRPr lang="en-US" sz="2000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85750" lvl="0" indent="-285750" algn="just">
              <a:lnSpc>
                <a:spcPts val="2445"/>
              </a:lnSpc>
              <a:buFont typeface="Arial" panose="020B0604020202020204" pitchFamily="34" charset="0"/>
              <a:buChar char="•"/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Epoch: 100</a:t>
            </a:r>
            <a:endParaRPr lang="en-US" sz="2000" u="none" strike="noStrike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52AF0-7BB9-ACDD-94B6-17B42A3AF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52871"/>
            <a:ext cx="7239000" cy="31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6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851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1801569" y="796346"/>
            <a:ext cx="13477012" cy="124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GB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RMSE and Early Stopping Criteria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E8890195-4BD6-C6F7-1C5F-DBE73F368354}"/>
              </a:ext>
            </a:extLst>
          </p:cNvPr>
          <p:cNvSpPr/>
          <p:nvPr/>
        </p:nvSpPr>
        <p:spPr>
          <a:xfrm>
            <a:off x="1427749" y="2889076"/>
            <a:ext cx="16250651" cy="6915977"/>
          </a:xfrm>
          <a:custGeom>
            <a:avLst/>
            <a:gdLst/>
            <a:ahLst/>
            <a:cxnLst/>
            <a:rect l="l" t="t" r="r" b="b"/>
            <a:pathLst>
              <a:path w="3416716" h="1406272">
                <a:moveTo>
                  <a:pt x="0" y="0"/>
                </a:moveTo>
                <a:lnTo>
                  <a:pt x="3416716" y="0"/>
                </a:lnTo>
                <a:lnTo>
                  <a:pt x="3416716" y="1406272"/>
                </a:lnTo>
                <a:lnTo>
                  <a:pt x="0" y="1406272"/>
                </a:lnTo>
                <a:close/>
              </a:path>
            </a:pathLst>
          </a:custGeom>
          <a:gradFill rotWithShape="1">
            <a:gsLst>
              <a:gs pos="0">
                <a:srgbClr val="03295A">
                  <a:alpha val="62000"/>
                </a:srgbClr>
              </a:gs>
              <a:gs pos="100000">
                <a:srgbClr val="041468">
                  <a:alpha val="74500"/>
                </a:srgbClr>
              </a:gs>
            </a:gsLst>
            <a:lin ang="0"/>
          </a:gradFill>
          <a:ln w="38100" cap="sq">
            <a:gradFill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en-GB" sz="3000" dirty="0">
                <a:solidFill>
                  <a:schemeClr val="bg1"/>
                </a:solidFill>
              </a:rPr>
              <a:t>Final Test RMSE: 0.1628</a:t>
            </a: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GB" sz="3000" dirty="0">
              <a:solidFill>
                <a:schemeClr val="bg1"/>
              </a:solidFill>
            </a:endParaRPr>
          </a:p>
          <a:p>
            <a:endParaRPr lang="en-GB" sz="3000" dirty="0">
              <a:solidFill>
                <a:schemeClr val="bg1"/>
              </a:solidFill>
            </a:endParaRPr>
          </a:p>
          <a:p>
            <a:endParaRPr lang="en-GB" sz="3000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1E891-675A-4174-5D27-2B1BA851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695700"/>
            <a:ext cx="7689768" cy="4800600"/>
          </a:xfrm>
          <a:prstGeom prst="rect">
            <a:avLst/>
          </a:prstGeom>
        </p:spPr>
      </p:pic>
      <p:sp>
        <p:nvSpPr>
          <p:cNvPr id="9" name="TextBox 21">
            <a:extLst>
              <a:ext uri="{FF2B5EF4-FFF2-40B4-BE49-F238E27FC236}">
                <a16:creationId xmlns:a16="http://schemas.microsoft.com/office/drawing/2014/main" id="{9FE8C00D-607A-82E7-FF7D-6B6B62426D56}"/>
              </a:ext>
            </a:extLst>
          </p:cNvPr>
          <p:cNvSpPr txBox="1"/>
          <p:nvPr/>
        </p:nvSpPr>
        <p:spPr>
          <a:xfrm>
            <a:off x="9537454" y="3695700"/>
            <a:ext cx="7302746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445"/>
              </a:lnSpc>
            </a:pPr>
            <a:r>
              <a:rPr lang="en-US" sz="25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fact that this value (0.1628) did not suddenly spike above the train RMSE trend indicates that the model is not overfitting.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EE0C01-611B-AB44-BB8B-524D2ABA4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4795656"/>
            <a:ext cx="6582694" cy="2600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7173-DCF6-B6EF-BE65-A21AD546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1DCA69-B04A-7ABA-0CBE-58716DD03B3E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851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4D0FA03-FEE9-92C0-864E-4106D7AF67F4}"/>
              </a:ext>
            </a:extLst>
          </p:cNvPr>
          <p:cNvSpPr txBox="1"/>
          <p:nvPr/>
        </p:nvSpPr>
        <p:spPr>
          <a:xfrm>
            <a:off x="1801569" y="796346"/>
            <a:ext cx="13477012" cy="124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GB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RMSE and Early Stopping Criteria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24F21EF-58B3-42F5-CF76-6D425B550C0E}"/>
              </a:ext>
            </a:extLst>
          </p:cNvPr>
          <p:cNvSpPr/>
          <p:nvPr/>
        </p:nvSpPr>
        <p:spPr>
          <a:xfrm>
            <a:off x="1427749" y="2889076"/>
            <a:ext cx="16250651" cy="6915977"/>
          </a:xfrm>
          <a:custGeom>
            <a:avLst/>
            <a:gdLst/>
            <a:ahLst/>
            <a:cxnLst/>
            <a:rect l="l" t="t" r="r" b="b"/>
            <a:pathLst>
              <a:path w="3416716" h="1406272">
                <a:moveTo>
                  <a:pt x="0" y="0"/>
                </a:moveTo>
                <a:lnTo>
                  <a:pt x="3416716" y="0"/>
                </a:lnTo>
                <a:lnTo>
                  <a:pt x="3416716" y="1406272"/>
                </a:lnTo>
                <a:lnTo>
                  <a:pt x="0" y="1406272"/>
                </a:lnTo>
                <a:close/>
              </a:path>
            </a:pathLst>
          </a:custGeom>
          <a:gradFill rotWithShape="1">
            <a:gsLst>
              <a:gs pos="0">
                <a:srgbClr val="03295A">
                  <a:alpha val="62000"/>
                </a:srgbClr>
              </a:gs>
              <a:gs pos="100000">
                <a:srgbClr val="041468">
                  <a:alpha val="74500"/>
                </a:srgbClr>
              </a:gs>
            </a:gsLst>
            <a:lin ang="0"/>
          </a:gradFill>
          <a:ln w="38100" cap="sq">
            <a:gradFill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F03780-6F60-A10A-78D1-3C49F07FB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8100"/>
            <a:ext cx="6932686" cy="5867399"/>
          </a:xfrm>
          <a:prstGeom prst="rect">
            <a:avLst/>
          </a:prstGeom>
        </p:spPr>
      </p:pic>
      <p:sp>
        <p:nvSpPr>
          <p:cNvPr id="4" name="TextBox 21">
            <a:extLst>
              <a:ext uri="{FF2B5EF4-FFF2-40B4-BE49-F238E27FC236}">
                <a16:creationId xmlns:a16="http://schemas.microsoft.com/office/drawing/2014/main" id="{93172600-3E72-CFBA-39EA-7D459B4CADF0}"/>
              </a:ext>
            </a:extLst>
          </p:cNvPr>
          <p:cNvSpPr txBox="1"/>
          <p:nvPr/>
        </p:nvSpPr>
        <p:spPr>
          <a:xfrm>
            <a:off x="1536454" y="4802981"/>
            <a:ext cx="730274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445"/>
              </a:lnSpc>
            </a:pPr>
            <a:r>
              <a:rPr lang="en-US" sz="3000" b="1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2. Early Stopping</a:t>
            </a:r>
          </a:p>
          <a:p>
            <a:pPr lvl="0" algn="just">
              <a:lnSpc>
                <a:spcPts val="2445"/>
              </a:lnSpc>
            </a:pPr>
            <a:endParaRPr lang="en-US" sz="2000" spc="7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lvl="0" algn="just">
              <a:lnSpc>
                <a:spcPts val="2445"/>
              </a:lnSpc>
            </a:pPr>
            <a:r>
              <a:rPr lang="en-US" sz="2000" spc="7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Looking at the three curves, the validation loss didn't spike but remained consistent with the training and test loss. Since there were no signs of overfitting, so I did not apply early stopping</a:t>
            </a:r>
          </a:p>
        </p:txBody>
      </p:sp>
    </p:spTree>
    <p:extLst>
      <p:ext uri="{BB962C8B-B14F-4D97-AF65-F5344CB8AC3E}">
        <p14:creationId xmlns:p14="http://schemas.microsoft.com/office/powerpoint/2010/main" val="274494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602</Words>
  <Application>Microsoft Office PowerPoint</Application>
  <PresentationFormat>Custom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Google Sans Text</vt:lpstr>
      <vt:lpstr>Calibri</vt:lpstr>
      <vt:lpstr>Telegraf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 technological artificial intelligence project presentation</dc:title>
  <dc:creator>Pham, Quinn</dc:creator>
  <cp:lastModifiedBy>Pham, Quinn</cp:lastModifiedBy>
  <cp:revision>36</cp:revision>
  <dcterms:created xsi:type="dcterms:W3CDTF">2006-08-16T00:00:00Z</dcterms:created>
  <dcterms:modified xsi:type="dcterms:W3CDTF">2025-12-10T12:42:08Z</dcterms:modified>
  <dc:identifier>DAG6xhRWo6U</dc:identifier>
</cp:coreProperties>
</file>